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</a:rPr>
              <a:t>NST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8CC"/>
                </a:solidFill>
              </a:rPr>
              <a:t>Neural Style Transfer
From Classic Optimization to Real-Time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60520"/>
            <a:ext cx="173736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3445099429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PyTorch 2.x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160520"/>
            <a:ext cx="1737360" cy="402336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3445099429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Flask 3.x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4160520"/>
            <a:ext cx="1737360" cy="402336"/>
          </a:xfrm>
          <a:prstGeom prst="rect">
            <a:avLst/>
          </a:prstGeom>
          <a:solidFill>
            <a:srgbClr val="109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3445099429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VGG-19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160520"/>
            <a:ext cx="173736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445099429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PatchGAN</a:t>
            </a:r>
          </a:p>
        </p:txBody>
      </p:sp>
      <p:pic>
        <p:nvPicPr>
          <p:cNvPr id="14" name="Picture 13" descr="pencil_style_im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640080"/>
            <a:ext cx="3566160" cy="5212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6400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Deep Learning Project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Neural Style Transfer?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Neural Style Transfer (NST) blends the content of one image with the artistic style of another using a deep convolutional neural network — without any human-crafted filters.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37033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</a:rPr>
              <a:t>Content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The photograph to preserve — objects, structure, composition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37033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37744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</a:rPr>
              <a:t>Style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429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The artwork to borrow from — textures, colors, brushstrokes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77440"/>
            <a:ext cx="3703320" cy="2286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7744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487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</a:rPr>
              <a:t>Stylized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429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A new image painted in the style while keeping the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</a:rPr>
              <a:t>Result  =  f ( Content Image,  Style Image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Originally proposed by Gatys, Ecker &amp; Bethge (2016)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No training required for classic NST — only an iterative optimization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Later extended to real-time feed-forward networks by Johnson et al. (2016)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 We're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8CC"/>
                </a:solidFill>
              </a:rPr>
              <a:t>Classic NST produces great results but is painfully slow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1645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73152" cy="1645920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18872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09928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Classic NST takes 5–15 minutes per image
300–1000 gradient steps through a 143M-param VGG-19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051560"/>
            <a:ext cx="5577840" cy="1645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051560"/>
            <a:ext cx="73152" cy="1645920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18872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709928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Command-line tools are inaccessible to non-technical users
No visual feedback during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577840" cy="1645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73152" cy="1645920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01752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Flexibility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Fixed style — changing it means rerunning the whole optimization
No way to compare multiple styles instantly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880360"/>
            <a:ext cx="5577840" cy="1645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880360"/>
            <a:ext cx="73152" cy="1645920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01752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538728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Not practical for batch processing or real-time applications
Every new image needs a fresh 10-minute 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92040"/>
            <a:ext cx="11247120" cy="65836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6EFAC"/>
                </a:solidFill>
              </a:rPr>
              <a:t>✅  Our solution:  a full-stack web app with Classic NST for quality  +  Fast NST for instant real-time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Classic NST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88136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" y="1024128"/>
            <a:ext cx="804672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0789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Freeze VGG-19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2646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Load ImageNet-pretrained VGG-19 — weights never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02536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1938528"/>
            <a:ext cx="804672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19933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Extract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34086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Pass content &amp; style images through VGG-19; save layer activations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986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2852928"/>
            <a:ext cx="804672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29077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Compute Gram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25526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For each style layer: Gram(F) = F·Fᵀ ÷ (C·H·W) — captures texture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31336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130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" y="3767328"/>
            <a:ext cx="804672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8221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Initialize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16966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Start from the content image (or random noise)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45736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274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" y="4681728"/>
            <a:ext cx="804672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7365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Optimize Pixels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508406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Minimize L_total = α·L_content + β·L_style using L-BFGS / Adam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60136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418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8992" y="5596128"/>
            <a:ext cx="804672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8" y="56509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Iterate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599846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300–1000 steps — the image pixels are the only learned parameters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1024128"/>
            <a:ext cx="2377440" cy="54864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1472" y="111556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VGG-19 Layers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15727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</a:rPr>
              <a:t>relu1_2  ← style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23500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</a:rPr>
              <a:t>relu2_2  ← style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1472" y="31272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</a:rPr>
              <a:t>relu3_3  ← style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3904487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relu4_2  ← 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468172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</a:rPr>
              <a:t>relu4_3  ← style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2" y="54589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</a:rPr>
              <a:t>relu5_3  ← style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Math: Loss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24688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" cy="2468880"/>
          </a:xfrm>
          <a:prstGeom prst="rect">
            <a:avLst/>
          </a:prstGeom>
          <a:solidFill>
            <a:srgbClr val="109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9973"/>
                </a:solidFill>
              </a:rPr>
              <a:t>Content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L_content = ½ · Σ (F_ij − P_ij)²
F = features of generated image
P = features of content image
Layer: relu4_2 (conv4_2)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5577840" cy="24688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73152" cy="2468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0789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</a:rPr>
              <a:t>Style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L_style = Σ_l  w_l · MSE( G_l,  A_l )
G_l = Gram matrix of generated image at layer l
A_l = Gram matrix of style image at layer l
Gram(F) = F·Fᵀ  ÷  (C·H·W)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11247120" cy="1005840"/>
          </a:xfrm>
          <a:prstGeom prst="rect">
            <a:avLst/>
          </a:prstGeom>
          <a:solidFill>
            <a:srgbClr val="1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L_total  =  α · L_content  +  β · L_style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33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C"/>
                </a:solidFill>
              </a:rPr>
              <a:t>α = content weight  (e.g. 1e5)        β = style weight  (e.g. 1e10)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1247120" cy="17373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19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Why Gram Matrices?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2180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The Gram matrix captures correlations between feature channels — not where features appear, but how they co-occur. This makes it position-invariant, exactly what we need for texture and style: the painting's brushstroke pattern is the same wherever you look.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VGG-19: Why It Works for Style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760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Why VGG-19?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19-layer deep CNN trained on 1.2M ImageNet images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Learns a rich hierarchy: edges → textures → objects → semantics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Early layers (relu1–2): low-level textures, colors, edges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Middle layers (relu3–4): patterns, brushstrokes, material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Deep layers (relu5): high-level objects and scene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069080"/>
            <a:ext cx="16459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422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1A"/>
                </a:solidFill>
              </a:rPr>
              <a:t>Conv
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</a:rPr>
              <a:t>64ch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3813048"/>
            <a:ext cx="1645920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8862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1A"/>
                </a:solidFill>
              </a:rPr>
              <a:t>Conv
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</a:rPr>
              <a:t>128ch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557016"/>
            <a:ext cx="1645920" cy="12435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6301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1A"/>
                </a:solidFill>
              </a:rPr>
              <a:t>Conv
5-7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</a:rPr>
              <a:t>256ch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00984"/>
            <a:ext cx="1645920" cy="1499616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37413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1A"/>
                </a:solidFill>
              </a:rPr>
              <a:t>Conv
8-11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</a:rPr>
              <a:t>512ch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044952"/>
            <a:ext cx="1645920" cy="1755648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11810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1A"/>
                </a:solidFill>
              </a:rPr>
              <a:t>Conv
12-16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</a:rPr>
              <a:t>512ch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788920"/>
            <a:ext cx="1645920" cy="2011680"/>
          </a:xfrm>
          <a:prstGeom prst="rect">
            <a:avLst/>
          </a:prstGeom>
          <a:solidFill>
            <a:srgbClr val="B0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862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1A"/>
                </a:solidFill>
              </a:rPr>
              <a:t>FC
1-3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</a:rPr>
              <a:t>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38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C"/>
                </a:solidFill>
              </a:rPr>
              <a:t>← low-level (style)                                  high-level (content)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024128"/>
            <a:ext cx="5303520" cy="43891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024128"/>
            <a:ext cx="73152" cy="4389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097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Implementation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5544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Weights loaded from torchvision (ImageNet pretrained)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All parameters frozen — requires_grad = False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Custom normalization layer prepended (mean/std of ImageNet)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Content hooks at relu4_2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Style hooks at relu1_2, relu2_2, relu3_3, relu4_3, relu5_3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CRITICAL: must run in float32 — relu4+ activations exceed float16 max (65504)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0058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6EFAC"/>
                </a:solidFill>
              </a:rPr>
              <a:t>🌐  Browser  (HTML + CSS + JavaScript)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Drag-drop upload  ·  Before/After slider  ·  Gallery  ·  Fullscreen viewer  ·  Toast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176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HTTP / SSE 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578608"/>
            <a:ext cx="85039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651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E20"/>
                </a:solidFill>
              </a:rPr>
              <a:t>⚙️  Flask  app.py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01752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/upload  ·  /progress/&lt;id&gt;  ·  /fast-stylize  ·  /gallery  ·  /models  ·  /sample-img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39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C3AED"/>
                </a:solidFill>
              </a:rP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39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C3AED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1648"/>
            <a:ext cx="5394960" cy="15087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1648"/>
            <a:ext cx="73152" cy="1508760"/>
          </a:xfrm>
          <a:prstGeom prst="rect">
            <a:avLst/>
          </a:prstGeom>
          <a:solidFill>
            <a:srgbClr val="109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148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🔬  nst_core.py — Classic NST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5166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8CC"/>
                </a:solidFill>
              </a:rPr>
              <a:t>  •  VGG-19 pixel optimization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8CC"/>
                </a:solidFill>
              </a:rPr>
              <a:t>  •  SSE progress streaming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8CC"/>
                </a:solidFill>
              </a:rPr>
              <a:t>  •  L-BFGS / Adam optimizer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41648"/>
            <a:ext cx="5394960" cy="15087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041648"/>
            <a:ext cx="7315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 fast_nst.py — Fast 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98848"/>
            <a:ext cx="5166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B0B8CC"/>
                </a:solidFill>
              </a:rPr>
              <a:t>  •  TransformerNet feed-forward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8CC"/>
                </a:solidFill>
              </a:rPr>
              <a:t>  •  Sub-second inference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B0B8CC"/>
                </a:solidFill>
              </a:rPr>
              <a:t>  •  Pre-trained .pth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274320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870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</a:rPr>
              <a:t>💾  models/  .pth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5760720"/>
            <a:ext cx="274320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5870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</a:rPr>
              <a:t>🖼️  static/outputs/ 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5936" y="5760720"/>
            <a:ext cx="274320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5870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</a:rPr>
              <a:t>📊  runs/  TensorBoard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90304" y="5760720"/>
            <a:ext cx="2743200" cy="8046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5870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</a:rPr>
              <a:t>🎞️  samples/  training previews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Flask REST API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69494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" cy="694944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E20"/>
                </a:solidFill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17043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D3FC"/>
                </a:solidFill>
              </a:rPr>
              <a:t>/upload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88720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Upload content + style images, start Classic NST job, return job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92224"/>
            <a:ext cx="11247120" cy="69494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92224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5681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9973"/>
                </a:solidFill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568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D3FC"/>
                </a:solidFill>
              </a:rPr>
              <a:t>/progress/&lt;id&gt;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975104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SSE stream — sends loss value and preview image every N iterations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78608"/>
            <a:ext cx="11247120" cy="69494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78608"/>
            <a:ext cx="73152" cy="694944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743200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E20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7432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D3FC"/>
                </a:solidFill>
              </a:rPr>
              <a:t>/fast-stylize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61488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One-shot inference with a pre-trained Fast NST TransformerNet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64992"/>
            <a:ext cx="11247120" cy="69494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64992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29584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9973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2958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D3FC"/>
                </a:solidFill>
              </a:rPr>
              <a:t>/models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547872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List available Fast NST .pth models with name, path and thumbnail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51376"/>
            <a:ext cx="11247120" cy="69494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51376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315968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9973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31596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D3FC"/>
                </a:solidFill>
              </a:rPr>
              <a:t>/gallery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33425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Return last 60 stylized outputs sorted by modification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11247120" cy="69494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3776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0235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9973"/>
                </a:solidFill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023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D3FC"/>
                </a:solidFill>
              </a:rPr>
              <a:t>/sample-img/&lt;m&gt;/&lt;f&gt;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120640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Serve per-model training preview images saved during training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24144"/>
            <a:ext cx="11247120" cy="69494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724144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88873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9973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8887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D3FC"/>
                </a:solidFill>
              </a:rPr>
              <a:t>/samples/&lt;model&gt;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907024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List all training preview filenames for a given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CC"/>
                </a:solidFill>
              </a:rPr>
              <a:t>Built with Flask 3.x  ·  Threaded job dict  ·  JSON metadata  ·  Pathlib for all paths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Classic NST — Core Implementation  (nst_core.py)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394960" cy="2286000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Gram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26464"/>
            <a:ext cx="51206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7DD3FC"/>
                </a:solidFill>
              </a:rPr>
              <a:t>def gram_matrix(input):
    a, b, c, d = input.size()
    features = input.view(a * b, c * d)
    G = torch.mm(features, features.t())
    return G.div(a * b * c * 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5394960" cy="2286000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838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Style Loss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51206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7DD3FC"/>
                </a:solidFill>
              </a:rPr>
              <a:t>class StyleLoss(nn.Module):
    def __init__(self, target_feature):
        super().__init__()
        self.target = gram_matrix(
            target_feature).detach()
    def forward(self, input):
        G = gram_matrix(input)
        self.loss = F.mse_loss(G, self.target)
        return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024128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C3AED"/>
                </a:solidFill>
              </a:rPr>
              <a:t>Implementation Notes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B0B8CC"/>
                </a:solidFill>
              </a:rPr>
              <a:t>  •  ContentLoss: MSE between generated and content features at relu4_2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B0B8CC"/>
                </a:solidFill>
              </a:rPr>
              <a:t>  •  StyleLoss: MSE between Gram matrices at 5 style layers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B0B8CC"/>
                </a:solidFill>
              </a:rPr>
              <a:t>  •  Normalization layer prepended so images stay in [0,1]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B0B8CC"/>
                </a:solidFill>
              </a:rPr>
              <a:t>  •  Loss hooks injected into frozen VGG-19 graph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B0B8CC"/>
                </a:solidFill>
              </a:rPr>
              <a:t>  •  L-BFGS optimizer acts directly on image tensor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B0B8CC"/>
                </a:solidFill>
              </a:rPr>
              <a:t>  •  SSE streams loss + base64 preview every 50 steps to browser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B0B8CC"/>
                </a:solidFill>
              </a:rPr>
              <a:t>  •  Final image decoded from float tensor → PIL → JPEG → disk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Web UI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57784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731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6128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Drag &amp; Drop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9928"/>
            <a:ext cx="5166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Drop content and style images anywhere — no file picker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024128"/>
            <a:ext cx="557784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024128"/>
            <a:ext cx="73152" cy="1554480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1612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↔️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16128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Before / After Slider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709928"/>
            <a:ext cx="5166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CSS clip-path divider to compare original vs. stylized side-by-side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15768"/>
            <a:ext cx="557784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15768"/>
            <a:ext cx="73152" cy="1554480"/>
          </a:xfrm>
          <a:prstGeom prst="rect">
            <a:avLst/>
          </a:prstGeom>
          <a:solidFill>
            <a:srgbClr val="109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529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5292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Results Gallery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5166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Last 60 outputs with metadata — model name, style weights, timestamp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715768"/>
            <a:ext cx="557784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715768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28529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85292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Fullscreen 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3401568"/>
            <a:ext cx="5166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Click any image to expand full-screen, ESC to close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07408"/>
            <a:ext cx="557784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07408"/>
            <a:ext cx="73152" cy="1554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544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4456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Live SSE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093208"/>
            <a:ext cx="5166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Loss value + preview image streamed live as Classic NST iterates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4407408"/>
            <a:ext cx="557784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407408"/>
            <a:ext cx="73152" cy="1554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544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54456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Toast 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5093208"/>
            <a:ext cx="5166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Non-blocking pop-ups for job complete, errors, and model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Dataset &amp;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394960" cy="32004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73152" cy="3200400"/>
          </a:xfrm>
          <a:prstGeom prst="rect">
            <a:avLst/>
          </a:prstGeom>
          <a:solidFill>
            <a:srgbClr val="109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MS-COCO train2014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Total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572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C518"/>
                </a:solidFill>
              </a:rPr>
              <a:t>82,783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Valid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842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C518"/>
                </a:solidFill>
              </a:rPr>
              <a:t>82,177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Removed (corrupt/small)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957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C518"/>
                </a:solidFill>
              </a:rPr>
              <a:t>606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072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Dataset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807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C518"/>
                </a:solidFill>
              </a:rPr>
              <a:t>~13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18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Min image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186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C518"/>
                </a:solidFill>
              </a:rPr>
              <a:t>256 × 256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Image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6301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C518"/>
                </a:solidFill>
              </a:rPr>
              <a:t>JPEG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24128"/>
            <a:ext cx="5577840" cy="32004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09728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preprocess.py — Validation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536192"/>
            <a:ext cx="5349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8 parallel workers via ThreadPoolExecutor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Force-decode every pixel — catches truncated JPEGs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Filter images smaller than 256px on either side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Writes valid_images.txt manifest — ~2 min one-time cost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B0B8CC"/>
                </a:solidFill>
              </a:rPr>
              <a:t>  •  Manifest used by DataLoader, skips re-validation on resume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1247120" cy="10058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62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Training Transforms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46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DD3FC"/>
                </a:solidFill>
              </a:rPr>
              <a:t>RandomCrop(256)  →  ToTensor()  →  Normalize( mean=[0.485, 0.456, 0.406], std=[0.229, 0.224, 0.225] 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CC"/>
                </a:solidFill>
              </a:rPr>
              <a:t>SeededSampler enables exact mid-epoch resume — same image order guaranteed across interruptions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Style &amp; Content Reference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</a:rPr>
              <a:t>Style Image  —  pencil_style_img1.jpg</a:t>
            </a:r>
          </a:p>
        </p:txBody>
      </p:sp>
      <p:pic>
        <p:nvPicPr>
          <p:cNvPr id="6" name="Picture 5" descr="pencil_style_im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50292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</a:rPr>
              <a:t>Content Image  —  content_img1.png</a:t>
            </a:r>
          </a:p>
        </p:txBody>
      </p:sp>
      <p:pic>
        <p:nvPicPr>
          <p:cNvPr id="8" name="Picture 7" descr="content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508760"/>
            <a:ext cx="5943600" cy="4389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6053328"/>
            <a:ext cx="11247120" cy="65836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26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⚙️  Full training in progress on MS-COCO train2014 (82,177 images, 2 epochs, batch 8)  ·  Stylized result images will replace this placeholder after training completes.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Classic NST vs Fast NST —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005840"/>
            <a:ext cx="3657600" cy="502920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051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Classic NST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005840"/>
            <a:ext cx="36576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051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Fast NST (ours)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347472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550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Inference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572768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655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5–15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572768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1655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&lt; 1 second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21408"/>
            <a:ext cx="347472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037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Training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121408"/>
            <a:ext cx="365760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2037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121408"/>
            <a:ext cx="365760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22037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~4–5 hrs (once)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70048"/>
            <a:ext cx="347472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7523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670048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4528" y="27523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Very 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670048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27523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High (with improvements)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18687"/>
            <a:ext cx="347472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30098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New style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218687"/>
            <a:ext cx="365760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330098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Re-run optim.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3218687"/>
            <a:ext cx="365760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330098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Train new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67328"/>
            <a:ext cx="347472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8496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GPU memory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767328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38496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~2 GB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767328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8496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~4 GB (training)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315968"/>
            <a:ext cx="347472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3982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4315968"/>
            <a:ext cx="365760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4528" y="43982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Pixel optim.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4315968"/>
            <a:ext cx="365760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3982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Feed-forward net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64607"/>
            <a:ext cx="347472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94690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Batch processing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864607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4528" y="494690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❌ Impractical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4864607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494690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✅ Instant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413248"/>
            <a:ext cx="347472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54955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Adversarial loss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5413248"/>
            <a:ext cx="365760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4528" y="54955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❌ 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5413248"/>
            <a:ext cx="3657600" cy="502920"/>
          </a:xfrm>
          <a:prstGeom prst="rect">
            <a:avLst/>
          </a:prstGeom>
          <a:solidFill>
            <a:srgbClr val="12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73568" y="54955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✅ PatchGAN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961888"/>
            <a:ext cx="347472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0441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Best for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0" y="5961888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4528" y="60441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</a:rPr>
              <a:t>One-off art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5961888"/>
            <a:ext cx="3657600" cy="5029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73568" y="60441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Real-time / web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Future Work  — Currently in Active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438912"/>
          </a:xfrm>
          <a:prstGeom prst="rect">
            <a:avLst/>
          </a:prstGeom>
          <a:solidFill>
            <a:srgbClr val="1E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C518"/>
                </a:solidFill>
              </a:rPr>
              <a:t>🚧  All features below are being actively built in this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577840" cy="14630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731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 Fast NST Real-Time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TransformerNet trained on MS-COCO — sub-second stylization.
Replaces 15-minute Classic NST for live 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577840" cy="14630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63040"/>
            <a:ext cx="73152" cy="1463040"/>
          </a:xfrm>
          <a:prstGeom prst="rect">
            <a:avLst/>
          </a:prstGeom>
          <a:solidFill>
            <a:srgbClr val="EC4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🎭  PatchGAN Adversarial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99339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70×70 PatchDiscriminator with spectral norm.
Enforces micro-texture realism — sharper brushstrokes.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5577840" cy="14630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463040"/>
          </a:xfrm>
          <a:prstGeom prst="rect">
            <a:avLst/>
          </a:prstGeom>
          <a:solidFill>
            <a:srgbClr val="109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1546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📐  8 Training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59359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5-layer VGG loss · Multi-scale Gram · Feature stats loss
Identity loss · Per-layer weights · AMP + cosine LR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063240"/>
            <a:ext cx="5577840" cy="14630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0632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1546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🗂️  Multi-Style Model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59359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train_all_styles.sh: one model per style image.
Instant style switching from web UI dropdown.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5577840" cy="14630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73152" cy="1463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7548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TensorBoard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19379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Live loss curves for all 5 loss components.
Sample preview images saved every 500 training steps.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663440"/>
            <a:ext cx="5577840" cy="14630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663440"/>
            <a:ext cx="73152" cy="1463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7548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🖼️  Training Results in README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519379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Before/After images will be added to README.md
after the first full training run completes.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8CC"/>
                </a:solidFill>
              </a:rPr>
              <a:t>NST Studio  —  Neural Style Transfer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Classic NST: VGG-19 pixel optimization with live SSE streaming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Full-stack Flask web app — drag-drop, gallery, comparison slider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Fast NST in active development: &lt; 1s inference per image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PatchGAN adversarial training for texture realism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Multi-style model library with one-command training scripts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B0B8CC"/>
                </a:solidFill>
              </a:rPr>
              <a:t>  •  TensorBoard logging + sample previews every 500 training steps</a:t>
            </a:r>
          </a:p>
        </p:txBody>
      </p:sp>
      <p:pic>
        <p:nvPicPr>
          <p:cNvPr id="7" name="Picture 6" descr="pencil_style_im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640080"/>
            <a:ext cx="329184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github.com/charbelmezeraani0-star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8CC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